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0"/>
          </a:xfrm>
          <a:prstGeom prst="rect">
            <a:avLst/>
          </a:prstGeom>
          <a:solidFill>
            <a:srgbClr val="1B14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FUNDAS &amp; FIGURABLES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4B6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Trivia Round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286000" cy="502920"/>
          </a:xfrm>
          <a:prstGeom prst="roundRect">
            <a:avLst>
              <a:gd name="adj" fmla="val 50909"/>
            </a:avLst>
          </a:prstGeom>
          <a:solidFill>
            <a:srgbClr val="99001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7432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QUESTIONS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818120" y="1417320"/>
            <a:ext cx="3840480" cy="4160520"/>
          </a:xfrm>
          <a:prstGeom prst="roundRect">
            <a:avLst>
              <a:gd name="adj" fmla="val 2857"/>
            </a:avLst>
          </a:prstGeom>
          <a:solidFill>
            <a:srgbClr val="F7E3E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818120" y="1691640"/>
            <a:ext cx="38404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🧠</a:t>
            </a:r>
            <a:endParaRPr lang="en-US" sz="10000" dirty="0"/>
          </a:p>
        </p:txBody>
      </p:sp>
      <p:sp>
        <p:nvSpPr>
          <p:cNvPr id="9" name="Text 7"/>
          <p:cNvSpPr txBox="1"/>
          <p:nvPr/>
        </p:nvSpPr>
        <p:spPr>
          <a:xfrm>
            <a:off x="8092440" y="4892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9900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TRIVIA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14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262872" y="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50" kern="0" dirty="0">
                <a:solidFill>
                  <a:srgbClr val="F4B6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69494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Founded in 1865, Allahabad Bank — India's oldest joint-stock bank — built its identity around one particular animal, long used in Indian banking and royal iconography to signal strength and stability.</a:t>
            </a:r>
            <a:endParaRPr lang="en-US" sz="1600" dirty="0"/>
          </a:p>
          <a:p>
            <a:pPr algn="l" indent="0" marL="0">
              <a:lnSpc>
                <a:spcPct val="125000"/>
              </a:lnSpc>
              <a:spcAft>
                <a:spcPts val="1200"/>
              </a:spcAft>
              <a:buNone/>
            </a:pPr>
            <a:endParaRPr lang="en-US" sz="1600" dirty="0"/>
          </a:p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b="1" dirty="0">
                <a:solidFill>
                  <a:srgbClr val="1B14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animal anchors Allahabad Bank's logo?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18120" y="1417320"/>
            <a:ext cx="3840480" cy="4160520"/>
          </a:xfrm>
          <a:prstGeom prst="roundRect">
            <a:avLst>
              <a:gd name="adj" fmla="val 2857"/>
            </a:avLst>
          </a:prstGeom>
          <a:solidFill>
            <a:srgbClr val="F7E3E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1691640"/>
            <a:ext cx="38404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🐘</a:t>
            </a:r>
            <a:endParaRPr lang="en-US" sz="10000" dirty="0"/>
          </a:p>
        </p:txBody>
      </p:sp>
      <p:sp>
        <p:nvSpPr>
          <p:cNvPr id="8" name="Text 6"/>
          <p:cNvSpPr txBox="1"/>
          <p:nvPr/>
        </p:nvSpPr>
        <p:spPr>
          <a:xfrm>
            <a:off x="8092440" y="4892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9900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Allahabad Bank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14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262872" y="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50" kern="0" dirty="0">
                <a:solidFill>
                  <a:srgbClr val="F4B6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69494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b="1" dirty="0">
                <a:solidFill>
                  <a:srgbClr val="9900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elephant.</a:t>
            </a:r>
            <a:endParaRPr lang="en-US" sz="1800" dirty="0"/>
          </a:p>
          <a:p>
            <a:pPr algn="l" indent="0" marL="0">
              <a:lnSpc>
                <a:spcPct val="125000"/>
              </a:lnSpc>
              <a:spcAft>
                <a:spcPts val="1200"/>
              </a:spcAft>
              <a:buNone/>
            </a:pPr>
            <a:endParaRPr lang="en-US" sz="1800" dirty="0"/>
          </a:p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Allahabad Bank's identity has long featured an elephant — a figure widely used across Indian banking and royal iconography to signal strength, wisdom, and stability.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818120" y="1417320"/>
            <a:ext cx="3840480" cy="4160520"/>
          </a:xfrm>
          <a:prstGeom prst="roundRect">
            <a:avLst>
              <a:gd name="adj" fmla="val 2857"/>
            </a:avLst>
          </a:prstGeom>
          <a:solidFill>
            <a:srgbClr val="F7E3E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1691640"/>
            <a:ext cx="38404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🐘</a:t>
            </a:r>
            <a:endParaRPr lang="en-US" sz="10000" dirty="0"/>
          </a:p>
        </p:txBody>
      </p:sp>
      <p:sp>
        <p:nvSpPr>
          <p:cNvPr id="8" name="Text 6"/>
          <p:cNvSpPr txBox="1"/>
          <p:nvPr/>
        </p:nvSpPr>
        <p:spPr>
          <a:xfrm>
            <a:off x="8092440" y="4892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9900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Allahabad Bank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14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262872" y="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50" kern="0" dirty="0">
                <a:solidFill>
                  <a:srgbClr val="F4B6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69494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Joy Mangano became a QVC legend selling a self-wringing cleaning invention of her own design — a story big enough that Hollywood turned it into a Jennifer Lawrence biopic.</a:t>
            </a:r>
            <a:endParaRPr lang="en-US" sz="1600" dirty="0"/>
          </a:p>
          <a:p>
            <a:pPr algn="l" indent="0" marL="0">
              <a:lnSpc>
                <a:spcPct val="125000"/>
              </a:lnSpc>
              <a:spcAft>
                <a:spcPts val="1200"/>
              </a:spcAft>
              <a:buNone/>
            </a:pPr>
            <a:endParaRPr lang="en-US" sz="1600" dirty="0"/>
          </a:p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b="1" dirty="0">
                <a:solidFill>
                  <a:srgbClr val="1B14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was Joy Mangano's famous invention?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18120" y="1417320"/>
            <a:ext cx="3840480" cy="4160520"/>
          </a:xfrm>
          <a:prstGeom prst="roundRect">
            <a:avLst>
              <a:gd name="adj" fmla="val 2857"/>
            </a:avLst>
          </a:prstGeom>
          <a:solidFill>
            <a:srgbClr val="F7E3E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1691640"/>
            <a:ext cx="38404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🧽</a:t>
            </a:r>
            <a:endParaRPr lang="en-US" sz="10000" dirty="0"/>
          </a:p>
        </p:txBody>
      </p:sp>
      <p:sp>
        <p:nvSpPr>
          <p:cNvPr id="8" name="Text 6"/>
          <p:cNvSpPr txBox="1"/>
          <p:nvPr/>
        </p:nvSpPr>
        <p:spPr>
          <a:xfrm>
            <a:off x="8092440" y="4892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9900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Joy Mangano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14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262872" y="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50" kern="0" dirty="0">
                <a:solidFill>
                  <a:srgbClr val="F4B6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69494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b="1" dirty="0">
                <a:solidFill>
                  <a:srgbClr val="9900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Miracle Mop.</a:t>
            </a:r>
            <a:endParaRPr lang="en-US" sz="1800" dirty="0"/>
          </a:p>
          <a:p>
            <a:pPr algn="l" indent="0" marL="0">
              <a:lnSpc>
                <a:spcPct val="125000"/>
              </a:lnSpc>
              <a:spcAft>
                <a:spcPts val="1200"/>
              </a:spcAft>
              <a:buNone/>
            </a:pPr>
            <a:endParaRPr lang="en-US" sz="1800" dirty="0"/>
          </a:p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Joy Mangano invented and famously sold the self-wringing Miracle Mop on QVC, later dramatized in the 2015 film 'Joy'.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818120" y="1417320"/>
            <a:ext cx="3840480" cy="4160520"/>
          </a:xfrm>
          <a:prstGeom prst="roundRect">
            <a:avLst>
              <a:gd name="adj" fmla="val 2857"/>
            </a:avLst>
          </a:prstGeom>
          <a:solidFill>
            <a:srgbClr val="F7E3E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1691640"/>
            <a:ext cx="38404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🧽</a:t>
            </a:r>
            <a:endParaRPr lang="en-US" sz="10000" dirty="0"/>
          </a:p>
        </p:txBody>
      </p:sp>
      <p:sp>
        <p:nvSpPr>
          <p:cNvPr id="8" name="Text 6"/>
          <p:cNvSpPr txBox="1"/>
          <p:nvPr/>
        </p:nvSpPr>
        <p:spPr>
          <a:xfrm>
            <a:off x="8092440" y="4892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9900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Joy Mangano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14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262872" y="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50" kern="0" dirty="0">
                <a:solidFill>
                  <a:srgbClr val="F4B6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69494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Glenn Maxwell has been dropped from Australia's ODI side more times than most fans can count — all while a certain beer sponsored the team's shirt sleeve.</a:t>
            </a:r>
            <a:endParaRPr lang="en-US" sz="1600" dirty="0"/>
          </a:p>
          <a:p>
            <a:pPr algn="l" indent="0" marL="0">
              <a:lnSpc>
                <a:spcPct val="125000"/>
              </a:lnSpc>
              <a:spcAft>
                <a:spcPts val="1200"/>
              </a:spcAft>
              <a:buNone/>
            </a:pPr>
            <a:endParaRPr lang="en-US" sz="1600" dirty="0"/>
          </a:p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b="1" dirty="0">
                <a:solidFill>
                  <a:srgbClr val="1B14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What's the ironic twist in that beer's name?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18120" y="1417320"/>
            <a:ext cx="3840480" cy="4160520"/>
          </a:xfrm>
          <a:prstGeom prst="roundRect">
            <a:avLst>
              <a:gd name="adj" fmla="val 2857"/>
            </a:avLst>
          </a:prstGeom>
          <a:solidFill>
            <a:srgbClr val="F7E3E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1691640"/>
            <a:ext cx="38404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🍺</a:t>
            </a:r>
            <a:endParaRPr lang="en-US" sz="10000" dirty="0"/>
          </a:p>
        </p:txBody>
      </p:sp>
      <p:sp>
        <p:nvSpPr>
          <p:cNvPr id="8" name="Text 6"/>
          <p:cNvSpPr txBox="1"/>
          <p:nvPr/>
        </p:nvSpPr>
        <p:spPr>
          <a:xfrm>
            <a:off x="8092440" y="4892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9900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Victoria Bitter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14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262872" y="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50" kern="0" dirty="0">
                <a:solidFill>
                  <a:srgbClr val="F4B6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69494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b="1" dirty="0">
                <a:solidFill>
                  <a:srgbClr val="9900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Victoria Bitter — named for the very state Maxwell represents domestically.</a:t>
            </a:r>
            <a:endParaRPr lang="en-US" sz="1800" dirty="0"/>
          </a:p>
          <a:p>
            <a:pPr algn="l" indent="0" marL="0">
              <a:lnSpc>
                <a:spcPct val="125000"/>
              </a:lnSpc>
              <a:spcAft>
                <a:spcPts val="1200"/>
              </a:spcAft>
              <a:buNone/>
            </a:pPr>
            <a:endParaRPr lang="en-US" sz="1800" dirty="0"/>
          </a:p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Victoria Bitter is named for the Australian state of Victoria — the same state Maxwell plays domestic cricket for, making his repeated axing a running irony.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818120" y="1417320"/>
            <a:ext cx="3840480" cy="4160520"/>
          </a:xfrm>
          <a:prstGeom prst="roundRect">
            <a:avLst>
              <a:gd name="adj" fmla="val 2857"/>
            </a:avLst>
          </a:prstGeom>
          <a:solidFill>
            <a:srgbClr val="F7E3E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1691640"/>
            <a:ext cx="38404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🍺</a:t>
            </a:r>
            <a:endParaRPr lang="en-US" sz="10000" dirty="0"/>
          </a:p>
        </p:txBody>
      </p:sp>
      <p:sp>
        <p:nvSpPr>
          <p:cNvPr id="8" name="Text 6"/>
          <p:cNvSpPr txBox="1"/>
          <p:nvPr/>
        </p:nvSpPr>
        <p:spPr>
          <a:xfrm>
            <a:off x="8092440" y="4892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9900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Victoria Bitter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14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262872" y="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50" kern="0" dirty="0">
                <a:solidFill>
                  <a:srgbClr val="F4B6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69494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Wi-Fi-connected, voice-recording Barbie doll let children hold conversations with it — but security researchers found a serious flaw in that same connectivity.</a:t>
            </a:r>
            <a:endParaRPr lang="en-US" sz="1600" dirty="0"/>
          </a:p>
          <a:p>
            <a:pPr algn="l" indent="0" marL="0">
              <a:lnSpc>
                <a:spcPct val="125000"/>
              </a:lnSpc>
              <a:spcAft>
                <a:spcPts val="1200"/>
              </a:spcAft>
              <a:buNone/>
            </a:pPr>
            <a:endParaRPr lang="en-US" sz="1600" dirty="0"/>
          </a:p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b="1" dirty="0">
                <a:solidFill>
                  <a:srgbClr val="1B14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doll drew warnings that hackers could spy on kids through it?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18120" y="1417320"/>
            <a:ext cx="3840480" cy="4160520"/>
          </a:xfrm>
          <a:prstGeom prst="roundRect">
            <a:avLst>
              <a:gd name="adj" fmla="val 2857"/>
            </a:avLst>
          </a:prstGeom>
          <a:solidFill>
            <a:srgbClr val="F7E3E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1691640"/>
            <a:ext cx="38404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🎀</a:t>
            </a:r>
            <a:endParaRPr lang="en-US" sz="10000" dirty="0"/>
          </a:p>
        </p:txBody>
      </p:sp>
      <p:sp>
        <p:nvSpPr>
          <p:cNvPr id="8" name="Text 6"/>
          <p:cNvSpPr txBox="1"/>
          <p:nvPr/>
        </p:nvSpPr>
        <p:spPr>
          <a:xfrm>
            <a:off x="8092440" y="4892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9900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Hello Barbie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14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262872" y="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50" kern="0" dirty="0">
                <a:solidFill>
                  <a:srgbClr val="F4B6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69494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b="1" dirty="0">
                <a:solidFill>
                  <a:srgbClr val="9900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Hello Barbie.</a:t>
            </a:r>
            <a:endParaRPr lang="en-US" sz="1800" dirty="0"/>
          </a:p>
          <a:p>
            <a:pPr algn="l" indent="0" marL="0">
              <a:lnSpc>
                <a:spcPct val="125000"/>
              </a:lnSpc>
              <a:spcAft>
                <a:spcPts val="1200"/>
              </a:spcAft>
              <a:buNone/>
            </a:pPr>
            <a:endParaRPr lang="en-US" sz="1800" dirty="0"/>
          </a:p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Mattel's Hello Barbie (2015) was found hackable by security researchers — exposing recorded conversations and even potential home locations.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818120" y="1417320"/>
            <a:ext cx="3840480" cy="4160520"/>
          </a:xfrm>
          <a:prstGeom prst="roundRect">
            <a:avLst>
              <a:gd name="adj" fmla="val 2857"/>
            </a:avLst>
          </a:prstGeom>
          <a:solidFill>
            <a:srgbClr val="F7E3E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1691640"/>
            <a:ext cx="38404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🎀</a:t>
            </a:r>
            <a:endParaRPr lang="en-US" sz="10000" dirty="0"/>
          </a:p>
        </p:txBody>
      </p:sp>
      <p:sp>
        <p:nvSpPr>
          <p:cNvPr id="8" name="Text 6"/>
          <p:cNvSpPr txBox="1"/>
          <p:nvPr/>
        </p:nvSpPr>
        <p:spPr>
          <a:xfrm>
            <a:off x="8092440" y="4892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9900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Hello Barbie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14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262872" y="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50" kern="0" dirty="0">
                <a:solidFill>
                  <a:srgbClr val="F4B6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69494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Mahindra's boxy, rugged off-roader takes its name directly from the terrain it's built to conquer.</a:t>
            </a:r>
            <a:endParaRPr lang="en-US" sz="1600" dirty="0"/>
          </a:p>
          <a:p>
            <a:pPr algn="l" indent="0" marL="0">
              <a:lnSpc>
                <a:spcPct val="125000"/>
              </a:lnSpc>
              <a:spcAft>
                <a:spcPts val="1200"/>
              </a:spcAft>
              <a:buNone/>
            </a:pPr>
            <a:endParaRPr lang="en-US" sz="1600" dirty="0"/>
          </a:p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b="1" dirty="0">
                <a:solidFill>
                  <a:srgbClr val="1B14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desert is Mahindra's SUV named after?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18120" y="1417320"/>
            <a:ext cx="3840480" cy="4160520"/>
          </a:xfrm>
          <a:prstGeom prst="roundRect">
            <a:avLst>
              <a:gd name="adj" fmla="val 2857"/>
            </a:avLst>
          </a:prstGeom>
          <a:solidFill>
            <a:srgbClr val="F7E3E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1691640"/>
            <a:ext cx="38404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🏜️</a:t>
            </a:r>
            <a:endParaRPr lang="en-US" sz="10000" dirty="0"/>
          </a:p>
        </p:txBody>
      </p:sp>
      <p:sp>
        <p:nvSpPr>
          <p:cNvPr id="8" name="Text 6"/>
          <p:cNvSpPr txBox="1"/>
          <p:nvPr/>
        </p:nvSpPr>
        <p:spPr>
          <a:xfrm>
            <a:off x="8092440" y="4892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9900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Mahindra Thar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14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262872" y="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50" kern="0" dirty="0">
                <a:solidFill>
                  <a:srgbClr val="F4B6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69494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b="1" dirty="0">
                <a:solidFill>
                  <a:srgbClr val="9900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Thar Desert.</a:t>
            </a:r>
            <a:endParaRPr lang="en-US" sz="1800" dirty="0"/>
          </a:p>
          <a:p>
            <a:pPr algn="l" indent="0" marL="0">
              <a:lnSpc>
                <a:spcPct val="125000"/>
              </a:lnSpc>
              <a:spcAft>
                <a:spcPts val="1200"/>
              </a:spcAft>
              <a:buNone/>
            </a:pPr>
            <a:endParaRPr lang="en-US" sz="1800" dirty="0"/>
          </a:p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Mahindra's SUV nameplate is simply "Thar" — named after the Thar Desert spanning Rajasthan and Sindh.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818120" y="1417320"/>
            <a:ext cx="3840480" cy="4160520"/>
          </a:xfrm>
          <a:prstGeom prst="roundRect">
            <a:avLst>
              <a:gd name="adj" fmla="val 2857"/>
            </a:avLst>
          </a:prstGeom>
          <a:solidFill>
            <a:srgbClr val="F7E3E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1691640"/>
            <a:ext cx="38404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🏜️</a:t>
            </a:r>
            <a:endParaRPr lang="en-US" sz="10000" dirty="0"/>
          </a:p>
        </p:txBody>
      </p:sp>
      <p:sp>
        <p:nvSpPr>
          <p:cNvPr id="8" name="Text 6"/>
          <p:cNvSpPr txBox="1"/>
          <p:nvPr/>
        </p:nvSpPr>
        <p:spPr>
          <a:xfrm>
            <a:off x="8092440" y="4892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9900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Mahindra Thar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14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262872" y="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50" kern="0" dirty="0">
                <a:solidFill>
                  <a:srgbClr val="F4B6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69494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Deutsche Telekom / T-Mobile has trademarked its signature shade so aggressively it has gone after a tech blog, AT&amp;T, and even an insurance startup for using similar tones.</a:t>
            </a:r>
            <a:endParaRPr lang="en-US" sz="1600" dirty="0"/>
          </a:p>
          <a:p>
            <a:pPr algn="l" indent="0" marL="0">
              <a:lnSpc>
                <a:spcPct val="125000"/>
              </a:lnSpc>
              <a:spcAft>
                <a:spcPts val="1200"/>
              </a:spcAft>
              <a:buNone/>
            </a:pPr>
            <a:endParaRPr lang="en-US" sz="1600" dirty="0"/>
          </a:p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b="1" dirty="0">
                <a:solidFill>
                  <a:srgbClr val="1B14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What's unusual about T-Mobile's magenta?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18120" y="1417320"/>
            <a:ext cx="3840480" cy="4160520"/>
          </a:xfrm>
          <a:prstGeom prst="roundRect">
            <a:avLst>
              <a:gd name="adj" fmla="val 2857"/>
            </a:avLst>
          </a:prstGeom>
          <a:solidFill>
            <a:srgbClr val="F7E3E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1691640"/>
            <a:ext cx="38404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🎨</a:t>
            </a:r>
            <a:endParaRPr lang="en-US" sz="10000" dirty="0"/>
          </a:p>
        </p:txBody>
      </p:sp>
      <p:sp>
        <p:nvSpPr>
          <p:cNvPr id="8" name="Text 6"/>
          <p:cNvSpPr txBox="1"/>
          <p:nvPr/>
        </p:nvSpPr>
        <p:spPr>
          <a:xfrm>
            <a:off x="8092440" y="4892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9900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T-Mobile Magenta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14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262872" y="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50" kern="0" dirty="0">
                <a:solidFill>
                  <a:srgbClr val="F4B6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69494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b="1" dirty="0">
                <a:solidFill>
                  <a:srgbClr val="9900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It's an aggressively defended, trademarked exact shade — Pantone Rhodamine Red U.</a:t>
            </a:r>
            <a:endParaRPr lang="en-US" sz="1800" dirty="0"/>
          </a:p>
          <a:p>
            <a:pPr algn="l" indent="0" marL="0">
              <a:lnSpc>
                <a:spcPct val="125000"/>
              </a:lnSpc>
              <a:spcAft>
                <a:spcPts val="1200"/>
              </a:spcAft>
              <a:buNone/>
            </a:pPr>
            <a:endParaRPr lang="en-US" sz="1800" dirty="0"/>
          </a:p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Deutsche Telekom/T-Mobile has trademarked its magenta so aggressively it has sued a tech blog, AT&amp;T, and even insurance startup Lemonade over similar shades.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818120" y="1417320"/>
            <a:ext cx="3840480" cy="4160520"/>
          </a:xfrm>
          <a:prstGeom prst="roundRect">
            <a:avLst>
              <a:gd name="adj" fmla="val 2857"/>
            </a:avLst>
          </a:prstGeom>
          <a:solidFill>
            <a:srgbClr val="F7E3E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1691640"/>
            <a:ext cx="38404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🎨</a:t>
            </a:r>
            <a:endParaRPr lang="en-US" sz="10000" dirty="0"/>
          </a:p>
        </p:txBody>
      </p:sp>
      <p:sp>
        <p:nvSpPr>
          <p:cNvPr id="8" name="Text 6"/>
          <p:cNvSpPr txBox="1"/>
          <p:nvPr/>
        </p:nvSpPr>
        <p:spPr>
          <a:xfrm>
            <a:off x="8092440" y="4892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9900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T-Mobile Magenta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14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262872" y="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50" kern="0" dirty="0">
                <a:solidFill>
                  <a:srgbClr val="F4B6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69494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half-sleeve, high-collar kurta style became a diaspora wardrobe staple, with demand reported from Indian communities in the US, UK, and East Africa.</a:t>
            </a:r>
            <a:endParaRPr lang="en-US" sz="1600" dirty="0"/>
          </a:p>
          <a:p>
            <a:pPr algn="l" indent="0" marL="0">
              <a:lnSpc>
                <a:spcPct val="125000"/>
              </a:lnSpc>
              <a:spcAft>
                <a:spcPts val="1200"/>
              </a:spcAft>
              <a:buNone/>
            </a:pPr>
            <a:endParaRPr lang="en-US" sz="1600" dirty="0"/>
          </a:p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b="1" dirty="0">
                <a:solidFill>
                  <a:srgbClr val="1B14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Ahmedabad label popularized the "Modi kurta"?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18120" y="1417320"/>
            <a:ext cx="3840480" cy="4160520"/>
          </a:xfrm>
          <a:prstGeom prst="roundRect">
            <a:avLst>
              <a:gd name="adj" fmla="val 2857"/>
            </a:avLst>
          </a:prstGeom>
          <a:solidFill>
            <a:srgbClr val="F7E3E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1691640"/>
            <a:ext cx="38404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🧵</a:t>
            </a:r>
            <a:endParaRPr lang="en-US" sz="10000" dirty="0"/>
          </a:p>
        </p:txBody>
      </p:sp>
      <p:sp>
        <p:nvSpPr>
          <p:cNvPr id="8" name="Text 6"/>
          <p:cNvSpPr txBox="1"/>
          <p:nvPr/>
        </p:nvSpPr>
        <p:spPr>
          <a:xfrm>
            <a:off x="8092440" y="4892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9900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"Modi Kurta"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14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262872" y="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50" kern="0" dirty="0">
                <a:solidFill>
                  <a:srgbClr val="F4B6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69494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b="1" dirty="0">
                <a:solidFill>
                  <a:srgbClr val="9900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Jade Blue.</a:t>
            </a:r>
            <a:endParaRPr lang="en-US" sz="1800" dirty="0"/>
          </a:p>
          <a:p>
            <a:pPr algn="l" indent="0" marL="0">
              <a:lnSpc>
                <a:spcPct val="125000"/>
              </a:lnSpc>
              <a:spcAft>
                <a:spcPts val="1200"/>
              </a:spcAft>
              <a:buNone/>
            </a:pPr>
            <a:endParaRPr lang="en-US" sz="1800" dirty="0"/>
          </a:p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Narendra Modi's half-sleeve bandhgala-style kurta became a bestseller for the Ahmedabad label Jade Blue.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818120" y="1417320"/>
            <a:ext cx="3840480" cy="4160520"/>
          </a:xfrm>
          <a:prstGeom prst="roundRect">
            <a:avLst>
              <a:gd name="adj" fmla="val 2857"/>
            </a:avLst>
          </a:prstGeom>
          <a:solidFill>
            <a:srgbClr val="F7E3E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1691640"/>
            <a:ext cx="38404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🧵</a:t>
            </a:r>
            <a:endParaRPr lang="en-US" sz="10000" dirty="0"/>
          </a:p>
        </p:txBody>
      </p:sp>
      <p:sp>
        <p:nvSpPr>
          <p:cNvPr id="8" name="Text 6"/>
          <p:cNvSpPr txBox="1"/>
          <p:nvPr/>
        </p:nvSpPr>
        <p:spPr>
          <a:xfrm>
            <a:off x="8092440" y="4892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9900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"Modi Kurta"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14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262872" y="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50" kern="0" dirty="0">
                <a:solidFill>
                  <a:srgbClr val="F4B6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69494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Google's famous weekly all-hands meeting carries a very specific Friday-themed name — yet for years it didn't actually happen on a Friday.</a:t>
            </a:r>
            <a:endParaRPr lang="en-US" sz="1600" dirty="0"/>
          </a:p>
          <a:p>
            <a:pPr algn="l" indent="0" marL="0">
              <a:lnSpc>
                <a:spcPct val="125000"/>
              </a:lnSpc>
              <a:spcAft>
                <a:spcPts val="1200"/>
              </a:spcAft>
              <a:buNone/>
            </a:pPr>
            <a:endParaRPr lang="en-US" sz="1600" dirty="0"/>
          </a:p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b="1" dirty="0">
                <a:solidFill>
                  <a:srgbClr val="1B14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What's the quirky scheduling detail about Google's TGIF?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18120" y="1417320"/>
            <a:ext cx="3840480" cy="4160520"/>
          </a:xfrm>
          <a:prstGeom prst="roundRect">
            <a:avLst>
              <a:gd name="adj" fmla="val 2857"/>
            </a:avLst>
          </a:prstGeom>
          <a:solidFill>
            <a:srgbClr val="F7E3E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1691640"/>
            <a:ext cx="38404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🗓️</a:t>
            </a:r>
            <a:endParaRPr lang="en-US" sz="10000" dirty="0"/>
          </a:p>
        </p:txBody>
      </p:sp>
      <p:sp>
        <p:nvSpPr>
          <p:cNvPr id="8" name="Text 6"/>
          <p:cNvSpPr txBox="1"/>
          <p:nvPr/>
        </p:nvSpPr>
        <p:spPr>
          <a:xfrm>
            <a:off x="8092440" y="4892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9900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TGIF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14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262872" y="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50" kern="0" dirty="0">
                <a:solidFill>
                  <a:srgbClr val="F4B6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69494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b="1" dirty="0">
                <a:solidFill>
                  <a:srgbClr val="9900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It's called TGIF ("Thank God It's Friday"), but was long held on Thursdays.</a:t>
            </a:r>
            <a:endParaRPr lang="en-US" sz="1800" dirty="0"/>
          </a:p>
          <a:p>
            <a:pPr algn="l" indent="0" marL="0">
              <a:lnSpc>
                <a:spcPct val="125000"/>
              </a:lnSpc>
              <a:spcAft>
                <a:spcPts val="1200"/>
              </a:spcAft>
              <a:buNone/>
            </a:pPr>
            <a:endParaRPr lang="en-US" sz="1800" dirty="0"/>
          </a:p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Google's "Thank God It's Friday" all-hands was, for years, actually held on Thursdays — shifted to accommodate colleagues in Asian time zones.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818120" y="1417320"/>
            <a:ext cx="3840480" cy="4160520"/>
          </a:xfrm>
          <a:prstGeom prst="roundRect">
            <a:avLst>
              <a:gd name="adj" fmla="val 2857"/>
            </a:avLst>
          </a:prstGeom>
          <a:solidFill>
            <a:srgbClr val="F7E3E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1691640"/>
            <a:ext cx="38404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🗓️</a:t>
            </a:r>
            <a:endParaRPr lang="en-US" sz="10000" dirty="0"/>
          </a:p>
        </p:txBody>
      </p:sp>
      <p:sp>
        <p:nvSpPr>
          <p:cNvPr id="8" name="Text 6"/>
          <p:cNvSpPr txBox="1"/>
          <p:nvPr/>
        </p:nvSpPr>
        <p:spPr>
          <a:xfrm>
            <a:off x="8092440" y="4892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9900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TGIF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14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262872" y="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50" kern="0" dirty="0">
                <a:solidFill>
                  <a:srgbClr val="F4B6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69494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Listerine's ad men needed people to worry about something ordinary enough to fix with a bottle of mouthwash — so in the 1920s, they gave it a much scarier-sounding name.</a:t>
            </a:r>
            <a:endParaRPr lang="en-US" sz="1600" dirty="0"/>
          </a:p>
          <a:p>
            <a:pPr algn="l" indent="0" marL="0">
              <a:lnSpc>
                <a:spcPct val="125000"/>
              </a:lnSpc>
              <a:spcAft>
                <a:spcPts val="1200"/>
              </a:spcAft>
              <a:buNone/>
            </a:pPr>
            <a:endParaRPr lang="en-US" sz="1600" dirty="0"/>
          </a:p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b="1" dirty="0">
                <a:solidFill>
                  <a:srgbClr val="1B14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invented-sounding condition did Listerine popularize?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18120" y="1417320"/>
            <a:ext cx="3840480" cy="4160520"/>
          </a:xfrm>
          <a:prstGeom prst="roundRect">
            <a:avLst>
              <a:gd name="adj" fmla="val 2857"/>
            </a:avLst>
          </a:prstGeom>
          <a:solidFill>
            <a:srgbClr val="F7E3E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1691640"/>
            <a:ext cx="38404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🦷</a:t>
            </a:r>
            <a:endParaRPr lang="en-US" sz="10000" dirty="0"/>
          </a:p>
        </p:txBody>
      </p:sp>
      <p:sp>
        <p:nvSpPr>
          <p:cNvPr id="8" name="Text 6"/>
          <p:cNvSpPr txBox="1"/>
          <p:nvPr/>
        </p:nvSpPr>
        <p:spPr>
          <a:xfrm>
            <a:off x="8092440" y="4892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9900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Listerine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14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262872" y="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50" kern="0" dirty="0">
                <a:solidFill>
                  <a:srgbClr val="F4B6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69494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b="1" dirty="0">
                <a:solidFill>
                  <a:srgbClr val="9900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"Halitosis" — a medical-sounding term for plain bad breath.</a:t>
            </a:r>
            <a:endParaRPr lang="en-US" sz="1800" dirty="0"/>
          </a:p>
          <a:p>
            <a:pPr algn="l" indent="0" marL="0">
              <a:lnSpc>
                <a:spcPct val="125000"/>
              </a:lnSpc>
              <a:spcAft>
                <a:spcPts val="1200"/>
              </a:spcAft>
              <a:buNone/>
            </a:pPr>
            <a:endParaRPr lang="en-US" sz="1800" dirty="0"/>
          </a:p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Listerine's ad men coined "halitosis" from Latin roots in the 1920s, turning ordinary bad breath into a dreaded medical condition — starring poor, perpetually-unmarried "Edna."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818120" y="1417320"/>
            <a:ext cx="3840480" cy="4160520"/>
          </a:xfrm>
          <a:prstGeom prst="roundRect">
            <a:avLst>
              <a:gd name="adj" fmla="val 2857"/>
            </a:avLst>
          </a:prstGeom>
          <a:solidFill>
            <a:srgbClr val="F7E3E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1691640"/>
            <a:ext cx="38404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🦷</a:t>
            </a:r>
            <a:endParaRPr lang="en-US" sz="10000" dirty="0"/>
          </a:p>
        </p:txBody>
      </p:sp>
      <p:sp>
        <p:nvSpPr>
          <p:cNvPr id="8" name="Text 6"/>
          <p:cNvSpPr txBox="1"/>
          <p:nvPr/>
        </p:nvSpPr>
        <p:spPr>
          <a:xfrm>
            <a:off x="8092440" y="4892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9900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Listerine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14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262872" y="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50" kern="0" dirty="0">
                <a:solidFill>
                  <a:srgbClr val="F4B6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69494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Russian vodka-making family fled after the Bolshevik Revolution, rebuilding their brand abroad — first in Istanbul, then in Poland, where the name picked up a new spelling.</a:t>
            </a:r>
            <a:endParaRPr lang="en-US" sz="1600" dirty="0"/>
          </a:p>
          <a:p>
            <a:pPr algn="l" indent="0" marL="0">
              <a:lnSpc>
                <a:spcPct val="125000"/>
              </a:lnSpc>
              <a:spcAft>
                <a:spcPts val="1200"/>
              </a:spcAft>
              <a:buNone/>
            </a:pPr>
            <a:endParaRPr lang="en-US" sz="1600" dirty="0"/>
          </a:p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b="1" dirty="0">
                <a:solidFill>
                  <a:srgbClr val="1B14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family's surname became "Smirnoff"?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18120" y="1417320"/>
            <a:ext cx="3840480" cy="4160520"/>
          </a:xfrm>
          <a:prstGeom prst="roundRect">
            <a:avLst>
              <a:gd name="adj" fmla="val 2857"/>
            </a:avLst>
          </a:prstGeom>
          <a:solidFill>
            <a:srgbClr val="F7E3E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1691640"/>
            <a:ext cx="38404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🍸</a:t>
            </a:r>
            <a:endParaRPr lang="en-US" sz="10000" dirty="0"/>
          </a:p>
        </p:txBody>
      </p:sp>
      <p:sp>
        <p:nvSpPr>
          <p:cNvPr id="8" name="Text 6"/>
          <p:cNvSpPr txBox="1"/>
          <p:nvPr/>
        </p:nvSpPr>
        <p:spPr>
          <a:xfrm>
            <a:off x="8092440" y="4892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9900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Smirnoff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14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262872" y="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50" kern="0" dirty="0">
                <a:solidFill>
                  <a:srgbClr val="F4B6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69494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b="1" dirty="0">
                <a:solidFill>
                  <a:srgbClr val="9900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Smirnov — the family fled Russia, rebuilt in Istanbul, then Poland, as "Smirnoff."</a:t>
            </a:r>
            <a:endParaRPr lang="en-US" sz="1800" dirty="0"/>
          </a:p>
          <a:p>
            <a:pPr algn="l" indent="0" marL="0">
              <a:lnSpc>
                <a:spcPct val="125000"/>
              </a:lnSpc>
              <a:spcAft>
                <a:spcPts val="1200"/>
              </a:spcAft>
              <a:buNone/>
            </a:pPr>
            <a:endParaRPr lang="en-US" sz="1800" dirty="0"/>
          </a:p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Pyotr Smirnov's vodka empire was nationalized after the Revolution; his son Vladimir fled and rebuilt the brand in Istanbul, then Poland, as "Smirnoff."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818120" y="1417320"/>
            <a:ext cx="3840480" cy="4160520"/>
          </a:xfrm>
          <a:prstGeom prst="roundRect">
            <a:avLst>
              <a:gd name="adj" fmla="val 2857"/>
            </a:avLst>
          </a:prstGeom>
          <a:solidFill>
            <a:srgbClr val="F7E3E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1691640"/>
            <a:ext cx="38404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🍸</a:t>
            </a:r>
            <a:endParaRPr lang="en-US" sz="10000" dirty="0"/>
          </a:p>
        </p:txBody>
      </p:sp>
      <p:sp>
        <p:nvSpPr>
          <p:cNvPr id="8" name="Text 6"/>
          <p:cNvSpPr txBox="1"/>
          <p:nvPr/>
        </p:nvSpPr>
        <p:spPr>
          <a:xfrm>
            <a:off x="8092440" y="4892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9900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Smirnoff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14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262872" y="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50" kern="0" dirty="0">
                <a:solidFill>
                  <a:srgbClr val="F4B6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69494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shade of purple has been fought over in court for decades between two chocolate rivals — with the trademark ultimately slipping away from the company that built its whole identity around it.</a:t>
            </a:r>
            <a:endParaRPr lang="en-US" sz="1600" dirty="0"/>
          </a:p>
          <a:p>
            <a:pPr algn="l" indent="0" marL="0">
              <a:lnSpc>
                <a:spcPct val="125000"/>
              </a:lnSpc>
              <a:spcAft>
                <a:spcPts val="1200"/>
              </a:spcAft>
              <a:buNone/>
            </a:pPr>
            <a:endParaRPr lang="en-US" sz="1600" dirty="0"/>
          </a:p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b="1" dirty="0">
                <a:solidFill>
                  <a:srgbClr val="1B14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What's the real story behind Cadbury's purple wrapper?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18120" y="1417320"/>
            <a:ext cx="3840480" cy="4160520"/>
          </a:xfrm>
          <a:prstGeom prst="roundRect">
            <a:avLst>
              <a:gd name="adj" fmla="val 2857"/>
            </a:avLst>
          </a:prstGeom>
          <a:solidFill>
            <a:srgbClr val="F7E3E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1691640"/>
            <a:ext cx="38404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🍫</a:t>
            </a:r>
            <a:endParaRPr lang="en-US" sz="10000" dirty="0"/>
          </a:p>
        </p:txBody>
      </p:sp>
      <p:sp>
        <p:nvSpPr>
          <p:cNvPr id="8" name="Text 6"/>
          <p:cNvSpPr txBox="1"/>
          <p:nvPr/>
        </p:nvSpPr>
        <p:spPr>
          <a:xfrm>
            <a:off x="8092440" y="4892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9900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Cadbury Purple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14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262872" y="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50" kern="0" dirty="0">
                <a:solidFill>
                  <a:srgbClr val="F4B6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69494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b="1" dirty="0">
                <a:solidFill>
                  <a:srgbClr val="9900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Cadbury fought — and ultimately lost — a decades-long legal battle to trademark it.</a:t>
            </a:r>
            <a:endParaRPr lang="en-US" sz="1800" dirty="0"/>
          </a:p>
          <a:p>
            <a:pPr algn="l" indent="0" marL="0">
              <a:lnSpc>
                <a:spcPct val="125000"/>
              </a:lnSpc>
              <a:spcAft>
                <a:spcPts val="1200"/>
              </a:spcAft>
              <a:buNone/>
            </a:pPr>
            <a:endParaRPr lang="en-US" sz="1800" dirty="0"/>
          </a:p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Cadbury spent decades trying to trademark Pantone 2685C for chocolate packaging, repeatedly clashing with rival Nestlé — winning some rounds and ultimately losing the fight.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818120" y="1417320"/>
            <a:ext cx="3840480" cy="4160520"/>
          </a:xfrm>
          <a:prstGeom prst="roundRect">
            <a:avLst>
              <a:gd name="adj" fmla="val 2857"/>
            </a:avLst>
          </a:prstGeom>
          <a:solidFill>
            <a:srgbClr val="F7E3E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1691640"/>
            <a:ext cx="38404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🍫</a:t>
            </a:r>
            <a:endParaRPr lang="en-US" sz="10000" dirty="0"/>
          </a:p>
        </p:txBody>
      </p:sp>
      <p:sp>
        <p:nvSpPr>
          <p:cNvPr id="8" name="Text 6"/>
          <p:cNvSpPr txBox="1"/>
          <p:nvPr/>
        </p:nvSpPr>
        <p:spPr>
          <a:xfrm>
            <a:off x="8092440" y="4892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9900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Cadbury Purple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14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262872" y="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50" kern="0" dirty="0">
                <a:solidFill>
                  <a:srgbClr val="F4B6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69494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the 2018 Facebook data scandal, a prestigious university had to publicly clarify something about a firm that shared its name.</a:t>
            </a:r>
            <a:endParaRPr lang="en-US" sz="1600" dirty="0"/>
          </a:p>
          <a:p>
            <a:pPr algn="l" indent="0" marL="0">
              <a:lnSpc>
                <a:spcPct val="125000"/>
              </a:lnSpc>
              <a:spcAft>
                <a:spcPts val="1200"/>
              </a:spcAft>
              <a:buNone/>
            </a:pPr>
            <a:endParaRPr lang="en-US" sz="1600" dirty="0"/>
          </a:p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b="1" dirty="0">
                <a:solidFill>
                  <a:srgbClr val="1B14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did the University of Cambridge clarify about Cambridge Analytica?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18120" y="1417320"/>
            <a:ext cx="3840480" cy="4160520"/>
          </a:xfrm>
          <a:prstGeom prst="roundRect">
            <a:avLst>
              <a:gd name="adj" fmla="val 2857"/>
            </a:avLst>
          </a:prstGeom>
          <a:solidFill>
            <a:srgbClr val="F7E3E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1691640"/>
            <a:ext cx="38404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🎓</a:t>
            </a:r>
            <a:endParaRPr lang="en-US" sz="10000" dirty="0"/>
          </a:p>
        </p:txBody>
      </p:sp>
      <p:sp>
        <p:nvSpPr>
          <p:cNvPr id="8" name="Text 6"/>
          <p:cNvSpPr txBox="1"/>
          <p:nvPr/>
        </p:nvSpPr>
        <p:spPr>
          <a:xfrm>
            <a:off x="8092440" y="4892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9900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Cambridge Analytica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14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262872" y="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50" kern="0" dirty="0">
                <a:solidFill>
                  <a:srgbClr val="F4B6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69494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b="1" dirty="0">
                <a:solidFill>
                  <a:srgbClr val="9900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has no institutional connection to the university at all.</a:t>
            </a:r>
            <a:endParaRPr lang="en-US" sz="1800" dirty="0"/>
          </a:p>
          <a:p>
            <a:pPr algn="l" indent="0" marL="0">
              <a:lnSpc>
                <a:spcPct val="125000"/>
              </a:lnSpc>
              <a:spcAft>
                <a:spcPts val="1200"/>
              </a:spcAft>
              <a:buNone/>
            </a:pPr>
            <a:endParaRPr lang="en-US" sz="1800" dirty="0"/>
          </a:p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Despite its name, Cambridge Analytica has no institutional link to the University of Cambridge — the university issued a statement clarifying exactly that.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818120" y="1417320"/>
            <a:ext cx="3840480" cy="4160520"/>
          </a:xfrm>
          <a:prstGeom prst="roundRect">
            <a:avLst>
              <a:gd name="adj" fmla="val 2857"/>
            </a:avLst>
          </a:prstGeom>
          <a:solidFill>
            <a:srgbClr val="F7E3E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1691640"/>
            <a:ext cx="38404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🎓</a:t>
            </a:r>
            <a:endParaRPr lang="en-US" sz="10000" dirty="0"/>
          </a:p>
        </p:txBody>
      </p:sp>
      <p:sp>
        <p:nvSpPr>
          <p:cNvPr id="8" name="Text 6"/>
          <p:cNvSpPr txBox="1"/>
          <p:nvPr/>
        </p:nvSpPr>
        <p:spPr>
          <a:xfrm>
            <a:off x="8092440" y="4892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9900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Cambridge Analytica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14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262872" y="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50" kern="0" dirty="0">
                <a:solidFill>
                  <a:srgbClr val="F4B6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69494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New Development Bank — the "BRICS Bank" — set up its main base in one city, then opened its very first regional office somewhere else entirely.</a:t>
            </a:r>
            <a:endParaRPr lang="en-US" sz="1600" dirty="0"/>
          </a:p>
          <a:p>
            <a:pPr algn="l" indent="0" marL="0">
              <a:lnSpc>
                <a:spcPct val="125000"/>
              </a:lnSpc>
              <a:spcAft>
                <a:spcPts val="1200"/>
              </a:spcAft>
              <a:buNone/>
            </a:pPr>
            <a:endParaRPr lang="en-US" sz="1600" dirty="0"/>
          </a:p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b="1" dirty="0">
                <a:solidFill>
                  <a:srgbClr val="1B14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are its headquarters, and where was its first regional office?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18120" y="1417320"/>
            <a:ext cx="3840480" cy="4160520"/>
          </a:xfrm>
          <a:prstGeom prst="roundRect">
            <a:avLst>
              <a:gd name="adj" fmla="val 2857"/>
            </a:avLst>
          </a:prstGeom>
          <a:solidFill>
            <a:srgbClr val="F7E3E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1691640"/>
            <a:ext cx="38404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🏦</a:t>
            </a:r>
            <a:endParaRPr lang="en-US" sz="10000" dirty="0"/>
          </a:p>
        </p:txBody>
      </p:sp>
      <p:sp>
        <p:nvSpPr>
          <p:cNvPr id="8" name="Text 6"/>
          <p:cNvSpPr txBox="1"/>
          <p:nvPr/>
        </p:nvSpPr>
        <p:spPr>
          <a:xfrm>
            <a:off x="8092440" y="4892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9900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BRICS Bank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14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262872" y="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50" kern="0" dirty="0">
                <a:solidFill>
                  <a:srgbClr val="F4B6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69494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b="1" dirty="0">
                <a:solidFill>
                  <a:srgbClr val="9900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Headquarters in Shanghai; first regional office in Johannesburg.</a:t>
            </a:r>
            <a:endParaRPr lang="en-US" sz="1800" dirty="0"/>
          </a:p>
          <a:p>
            <a:pPr algn="l" indent="0" marL="0">
              <a:lnSpc>
                <a:spcPct val="125000"/>
              </a:lnSpc>
              <a:spcAft>
                <a:spcPts val="1200"/>
              </a:spcAft>
              <a:buNone/>
            </a:pPr>
            <a:endParaRPr lang="en-US" sz="1800" dirty="0"/>
          </a:p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BRICS-founded New Development Bank is headquartered in Shanghai, with its first regional office opened in Johannesburg — later offices followed in São Paulo and Moscow.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818120" y="1417320"/>
            <a:ext cx="3840480" cy="4160520"/>
          </a:xfrm>
          <a:prstGeom prst="roundRect">
            <a:avLst>
              <a:gd name="adj" fmla="val 2857"/>
            </a:avLst>
          </a:prstGeom>
          <a:solidFill>
            <a:srgbClr val="F7E3E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1691640"/>
            <a:ext cx="38404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🏦</a:t>
            </a:r>
            <a:endParaRPr lang="en-US" sz="10000" dirty="0"/>
          </a:p>
        </p:txBody>
      </p:sp>
      <p:sp>
        <p:nvSpPr>
          <p:cNvPr id="8" name="Text 6"/>
          <p:cNvSpPr txBox="1"/>
          <p:nvPr/>
        </p:nvSpPr>
        <p:spPr>
          <a:xfrm>
            <a:off x="8092440" y="4892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9900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BRICS Bank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14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262872" y="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50" kern="0" dirty="0">
                <a:solidFill>
                  <a:srgbClr val="F4B6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69494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V.P. Nandakumar took over the family NBFC in 1986 after his father's death, growing it into one of India's biggest gold-loan companies.</a:t>
            </a:r>
            <a:endParaRPr lang="en-US" sz="1600" dirty="0"/>
          </a:p>
          <a:p>
            <a:pPr algn="l" indent="0" marL="0">
              <a:lnSpc>
                <a:spcPct val="125000"/>
              </a:lnSpc>
              <a:spcAft>
                <a:spcPts val="1200"/>
              </a:spcAft>
              <a:buNone/>
            </a:pPr>
            <a:endParaRPr lang="en-US" sz="1600" dirty="0"/>
          </a:p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b="1" dirty="0">
                <a:solidFill>
                  <a:srgbClr val="1B14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Kerala college is Nandakumar a well-known alumnus of?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18120" y="1417320"/>
            <a:ext cx="3840480" cy="4160520"/>
          </a:xfrm>
          <a:prstGeom prst="roundRect">
            <a:avLst>
              <a:gd name="adj" fmla="val 2857"/>
            </a:avLst>
          </a:prstGeom>
          <a:solidFill>
            <a:srgbClr val="F7E3E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1691640"/>
            <a:ext cx="38404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🏫</a:t>
            </a:r>
            <a:endParaRPr lang="en-US" sz="10000" dirty="0"/>
          </a:p>
        </p:txBody>
      </p:sp>
      <p:sp>
        <p:nvSpPr>
          <p:cNvPr id="8" name="Text 6"/>
          <p:cNvSpPr txBox="1"/>
          <p:nvPr/>
        </p:nvSpPr>
        <p:spPr>
          <a:xfrm>
            <a:off x="8092440" y="4892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9900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Manappuram Finance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14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262872" y="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50" kern="0" dirty="0">
                <a:solidFill>
                  <a:srgbClr val="F4B6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69494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b="1" dirty="0">
                <a:solidFill>
                  <a:srgbClr val="9900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Christ College, Irinjalakuda.</a:t>
            </a:r>
            <a:endParaRPr lang="en-US" sz="1800" dirty="0"/>
          </a:p>
          <a:p>
            <a:pPr algn="l" indent="0" marL="0">
              <a:lnSpc>
                <a:spcPct val="125000"/>
              </a:lnSpc>
              <a:spcAft>
                <a:spcPts val="1200"/>
              </a:spcAft>
              <a:buNone/>
            </a:pPr>
            <a:endParaRPr lang="en-US" sz="1800" dirty="0"/>
          </a:p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V.P. Nandakumar, who took over the family NBFC in 1986, is an alumnus of Christ College, Irinjalakuda, in Kerala's Thrissur district.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818120" y="1417320"/>
            <a:ext cx="3840480" cy="4160520"/>
          </a:xfrm>
          <a:prstGeom prst="roundRect">
            <a:avLst>
              <a:gd name="adj" fmla="val 2857"/>
            </a:avLst>
          </a:prstGeom>
          <a:solidFill>
            <a:srgbClr val="F7E3E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1691640"/>
            <a:ext cx="38404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🏫</a:t>
            </a:r>
            <a:endParaRPr lang="en-US" sz="10000" dirty="0"/>
          </a:p>
        </p:txBody>
      </p:sp>
      <p:sp>
        <p:nvSpPr>
          <p:cNvPr id="8" name="Text 6"/>
          <p:cNvSpPr txBox="1"/>
          <p:nvPr/>
        </p:nvSpPr>
        <p:spPr>
          <a:xfrm>
            <a:off x="8092440" y="4892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9900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Manappuram Finance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14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262872" y="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50" kern="0" dirty="0">
                <a:solidFill>
                  <a:srgbClr val="F4B6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69494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Director Chris Columbus named his production company as a pun on his own surname — right down to a compass-and-ocean logo and a Hans Zimmer fanfare.</a:t>
            </a:r>
            <a:endParaRPr lang="en-US" sz="1600" dirty="0"/>
          </a:p>
          <a:p>
            <a:pPr algn="l" indent="0" marL="0">
              <a:lnSpc>
                <a:spcPct val="125000"/>
              </a:lnSpc>
              <a:spcAft>
                <a:spcPts val="1200"/>
              </a:spcAft>
              <a:buNone/>
            </a:pPr>
            <a:endParaRPr lang="en-US" sz="1600" dirty="0"/>
          </a:p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b="1" dirty="0">
                <a:solidFill>
                  <a:srgbClr val="1B14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What's the company called, and what does the name reference?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18120" y="1417320"/>
            <a:ext cx="3840480" cy="4160520"/>
          </a:xfrm>
          <a:prstGeom prst="roundRect">
            <a:avLst>
              <a:gd name="adj" fmla="val 2857"/>
            </a:avLst>
          </a:prstGeom>
          <a:solidFill>
            <a:srgbClr val="F7E3E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1691640"/>
            <a:ext cx="38404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🧭</a:t>
            </a:r>
            <a:endParaRPr lang="en-US" sz="10000" dirty="0"/>
          </a:p>
        </p:txBody>
      </p:sp>
      <p:sp>
        <p:nvSpPr>
          <p:cNvPr id="8" name="Text 6"/>
          <p:cNvSpPr txBox="1"/>
          <p:nvPr/>
        </p:nvSpPr>
        <p:spPr>
          <a:xfrm>
            <a:off x="8092440" y="4892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9900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1492 Pictures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14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262872" y="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50" kern="0" dirty="0">
                <a:solidFill>
                  <a:srgbClr val="F4B6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69494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b="1" dirty="0">
                <a:solidFill>
                  <a:srgbClr val="9900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1492 Pictures — a nod to Columbus's voyage to the Americas.</a:t>
            </a:r>
            <a:endParaRPr lang="en-US" sz="1800" dirty="0"/>
          </a:p>
          <a:p>
            <a:pPr algn="l" indent="0" marL="0">
              <a:lnSpc>
                <a:spcPct val="125000"/>
              </a:lnSpc>
              <a:spcAft>
                <a:spcPts val="1200"/>
              </a:spcAft>
              <a:buNone/>
            </a:pPr>
            <a:endParaRPr lang="en-US" sz="1800" dirty="0"/>
          </a:p>
          <a:p>
            <a:pPr algn="l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Chris Columbus named his production company 1492 Pictures as a pun on his surname and Christopher Columbus's 1492 voyage — complete with a Hans Zimmer fanfare.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818120" y="1417320"/>
            <a:ext cx="3840480" cy="4160520"/>
          </a:xfrm>
          <a:prstGeom prst="roundRect">
            <a:avLst>
              <a:gd name="adj" fmla="val 2857"/>
            </a:avLst>
          </a:prstGeom>
          <a:solidFill>
            <a:srgbClr val="F7E3E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1691640"/>
            <a:ext cx="38404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🧭</a:t>
            </a:r>
            <a:endParaRPr lang="en-US" sz="10000" dirty="0"/>
          </a:p>
        </p:txBody>
      </p:sp>
      <p:sp>
        <p:nvSpPr>
          <p:cNvPr id="8" name="Text 6"/>
          <p:cNvSpPr txBox="1"/>
          <p:nvPr/>
        </p:nvSpPr>
        <p:spPr>
          <a:xfrm>
            <a:off x="8092440" y="4892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9900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1492 Pictures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0"/>
          </a:xfrm>
          <a:prstGeom prst="rect">
            <a:avLst/>
          </a:prstGeom>
          <a:solidFill>
            <a:srgbClr val="1B14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THAT'S A WRAP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4B6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fundas, figured out.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818120" y="1417320"/>
            <a:ext cx="3840480" cy="4160520"/>
          </a:xfrm>
          <a:prstGeom prst="roundRect">
            <a:avLst>
              <a:gd name="adj" fmla="val 2857"/>
            </a:avLst>
          </a:prstGeom>
          <a:solidFill>
            <a:srgbClr val="F7E3E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818120" y="1691640"/>
            <a:ext cx="38404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🎉</a:t>
            </a:r>
            <a:endParaRPr lang="en-US" sz="10000" dirty="0"/>
          </a:p>
        </p:txBody>
      </p:sp>
      <p:sp>
        <p:nvSpPr>
          <p:cNvPr id="7" name="Text 5"/>
          <p:cNvSpPr txBox="1"/>
          <p:nvPr/>
        </p:nvSpPr>
        <p:spPr>
          <a:xfrm>
            <a:off x="8092440" y="4892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9900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2026-09-20T12:01:49Z</dcterms:created>
  <dcterms:modified xsi:type="dcterms:W3CDTF">2026-09-20T12:01:49Z</dcterms:modified>
</cp:coreProperties>
</file>